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90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C04F0-260A-292F-D2F2-A9C8E296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C1275-23E3-D4C5-FE83-AD14B01FC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3F6B7D-8ABE-50A2-DCF4-51C8204DE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F7CF2-D48A-1357-BC03-D0FBCC05C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45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914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VacaFlow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16093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D7E3F7"/>
                </a:solidFill>
              </a:rPr>
              <a:t>VacaFlow MVP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94944" y="21762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BBD2F4"/>
                </a:solidFill>
              </a:rPr>
              <a:t>Internal vacation and absence request workflow for IGS Solutions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3867912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16152" y="39319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Register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194560" y="3867912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697480" y="39319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Request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75888" y="3867912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3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78808" y="39319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Submit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57216" y="3867912"/>
            <a:ext cx="420624" cy="4206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</a:rPr>
              <a:t>4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660136" y="3931920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Decide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35240" y="1298448"/>
            <a:ext cx="3246120" cy="457200"/>
          </a:xfrm>
          <a:prstGeom prst="rect">
            <a:avLst/>
          </a:prstGeom>
          <a:solidFill>
            <a:srgbClr val="D7E3F7"/>
          </a:solidFill>
          <a:ln>
            <a:solidFill>
              <a:srgbClr val="D7E3F7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Limited scope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09560" y="2057400"/>
            <a:ext cx="2697480" cy="4389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Local login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83880" y="2779776"/>
            <a:ext cx="2148840" cy="43891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SQLite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6144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B6DD"/>
                </a:solidFill>
              </a:rPr>
              <a:t>July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VacaFlow?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 small internal application to turn informal requests into traceable decisions.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2377440" cy="32004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Current pain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92040" y="1417320"/>
            <a:ext cx="237744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MVP response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006840" y="1417320"/>
            <a:ext cx="2377440" cy="320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Result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2743200" cy="2377440"/>
          </a:xfrm>
          <a:prstGeom prst="rect">
            <a:avLst/>
          </a:prstGeom>
          <a:solidFill>
            <a:srgbClr val="FFF1F2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Scattered handling
</a:t>
            </a:r>
            <a:r>
              <a:rPr lang="en-US" sz="1230" dirty="0">
                <a:solidFill>
                  <a:srgbClr val="334155"/>
                </a:solidFill>
              </a:rPr>
              <a:t>Requests are handled through email, chat, and spreadsheets. Status, owner, and decision history are easy to lose.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2880360" cy="2377440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One request record
</a:t>
            </a:r>
            <a:r>
              <a:rPr lang="en-US" sz="1230" dirty="0">
                <a:solidFill>
                  <a:srgbClr val="334155"/>
                </a:solidFill>
              </a:rPr>
              <a:t>Employees log in, create a request, submit it, and managers decide from the same system.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8641080" y="2057400"/>
            <a:ext cx="2880360" cy="237744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Clear accountability
</a:t>
            </a:r>
            <a:r>
              <a:rPr lang="en-US" sz="1230" dirty="0">
                <a:solidFill>
                  <a:srgbClr val="334155"/>
                </a:solidFill>
              </a:rPr>
              <a:t>The final state and responsible manager are stored with the request.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3611880" y="3246120"/>
            <a:ext cx="84124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0" y="3246120"/>
            <a:ext cx="713232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A"/>
                </a:solidFill>
              </a:rPr>
              <a:t>The MVP proves the complete workflow without becoming a full HR platform.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Validated MVP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Registration and login are included; enterprise identity and hosting are deferred.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4846320" cy="3200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Included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37960" y="1325880"/>
            <a:ext cx="4846320" cy="32004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Out of scope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828800"/>
            <a:ext cx="4846320" cy="416052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
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4846320" cy="4160520"/>
          </a:xfrm>
          <a:prstGeom prst="rect">
            <a:avLst/>
          </a:prstGeom>
          <a:solidFill>
            <a:srgbClr val="FFF1F2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
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960120" y="2084832"/>
            <a:ext cx="448056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One compact Next.js web experience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Register, login, logout, and current user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Four business entities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SQLite database file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Minimal API endpoints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Core business rules and approval record</a:t>
            </a:r>
            <a:endParaRPr lang="en-US" sz="1310" dirty="0"/>
          </a:p>
        </p:txBody>
      </p:sp>
      <p:sp>
        <p:nvSpPr>
          <p:cNvPr id="12" name="Text 10"/>
          <p:cNvSpPr/>
          <p:nvPr/>
        </p:nvSpPr>
        <p:spPr>
          <a:xfrm>
            <a:off x="6720840" y="2084832"/>
            <a:ext cx="448056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Microsoft Entra ID or corporate SSO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Azure deployment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Docker or CI/CD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Email or Teams notifications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Vacation balances and holiday calendars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solidFill>
                  <a:srgbClr val="334155"/>
                </a:solidFill>
              </a:rPr>
              <a:t>• Reports, exports, attachments, HR administration</a:t>
            </a:r>
            <a:endParaRPr lang="en-US" sz="1310" dirty="0"/>
          </a:p>
        </p:txBody>
      </p:sp>
      <p:sp>
        <p:nvSpPr>
          <p:cNvPr id="13" name="Text 11"/>
          <p:cNvSpPr/>
          <p:nvPr/>
        </p:nvSpPr>
        <p:spPr>
          <a:xfrm>
            <a:off x="960120" y="61447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</a:rPr>
              <a:t>Scope principle: add no feature that is not required to demonstrate the end-to-end request decision flow.</a:t>
            </a:r>
            <a:endParaRPr lang="en-US" sz="12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boundary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 MVP replaces the user selector with basic local accounts.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1234440" cy="6400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Register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240280" y="2788920"/>
            <a:ext cx="8686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2468880"/>
            <a:ext cx="114300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Login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26280" y="2788920"/>
            <a:ext cx="8686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32120" y="2468880"/>
            <a:ext cx="1600200" cy="6400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Session / Token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269480" y="2788920"/>
            <a:ext cx="8686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2468880"/>
            <a:ext cx="1783080" cy="64008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API derives user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149840" y="2788920"/>
            <a:ext cx="6858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27080" y="2468880"/>
            <a:ext cx="914400" cy="6400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Action allowed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77240" y="4069080"/>
            <a:ext cx="3383280" cy="1170432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334155"/>
                </a:solidFill>
              </a:rPr>
              <a:t>Stored safely
</a:t>
            </a:r>
            <a:r>
              <a:rPr lang="en-US" sz="1240" dirty="0">
                <a:solidFill>
                  <a:srgbClr val="334155"/>
                </a:solidFill>
              </a:rPr>
              <a:t>Passwords are hashed. Plain-text passwords are never stored in SQLite.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4434840" y="4069080"/>
            <a:ext cx="3383280" cy="1170432"/>
          </a:xfrm>
          <a:prstGeom prst="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334155"/>
                </a:solidFill>
              </a:rPr>
              <a:t>No trusted IDs from UI
</a:t>
            </a:r>
            <a:r>
              <a:rPr lang="en-US" sz="1240" dirty="0">
                <a:solidFill>
                  <a:srgbClr val="334155"/>
                </a:solidFill>
              </a:rPr>
              <a:t>The API does not trust employeeId or responsibleManagerId supplied by the frontend.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8092440" y="4069080"/>
            <a:ext cx="3383280" cy="1170432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334155"/>
                </a:solidFill>
              </a:rPr>
              <a:t>Role-based actions
</a:t>
            </a:r>
            <a:r>
              <a:rPr lang="en-US" sz="1240" dirty="0">
                <a:solidFill>
                  <a:srgbClr val="334155"/>
                </a:solidFill>
              </a:rPr>
              <a:t>Employees manage their own requests; Managers decide requests assigned to them.</a:t>
            </a:r>
            <a:endParaRPr lang="en-US" sz="12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entities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Authentication tables support login; the business model stays focused on four concepts.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609344" y="1600200"/>
            <a:ext cx="566928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450592"/>
            <a:ext cx="2542032" cy="2423160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334155"/>
                </a:solidFill>
              </a:rPr>
              <a:t>Employee
</a:t>
            </a:r>
            <a:r>
              <a:rPr lang="en-US" sz="1220" dirty="0">
                <a:solidFill>
                  <a:srgbClr val="334155"/>
                </a:solidFill>
              </a:rPr>
              <a:t>Person using VacaFlow, with role and simple manager assignment.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489704" y="1600200"/>
            <a:ext cx="566928" cy="566928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38728" y="2450592"/>
            <a:ext cx="2542032" cy="2423160"/>
          </a:xfrm>
          <a:prstGeom prst="rect">
            <a:avLst/>
          </a:prstGeom>
          <a:solidFill>
            <a:srgbClr val="E6FFFB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334155"/>
                </a:solidFill>
              </a:rPr>
              <a:t>Absence Type
</a:t>
            </a:r>
            <a:r>
              <a:rPr lang="en-US" sz="1220" dirty="0">
                <a:solidFill>
                  <a:srgbClr val="334155"/>
                </a:solidFill>
              </a:rPr>
              <a:t>Catalog for Vacation, Personal Leave, and Sick Leave.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370064" y="1600200"/>
            <a:ext cx="566928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19088" y="2450592"/>
            <a:ext cx="2542032" cy="242316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334155"/>
                </a:solidFill>
              </a:rPr>
              <a:t>Request
</a:t>
            </a:r>
            <a:r>
              <a:rPr lang="en-US" sz="1220" dirty="0">
                <a:solidFill>
                  <a:srgbClr val="334155"/>
                </a:solidFill>
              </a:rPr>
              <a:t>Main workflow record with owner, type, dates, reason, and state.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250424" y="1600200"/>
            <a:ext cx="566928" cy="56692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299448" y="2450592"/>
            <a:ext cx="2542032" cy="242316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334155"/>
                </a:solidFill>
              </a:rPr>
              <a:t>Approval
</a:t>
            </a:r>
            <a:r>
              <a:rPr lang="en-US" sz="1220" dirty="0">
                <a:solidFill>
                  <a:srgbClr val="334155"/>
                </a:solidFill>
              </a:rPr>
              <a:t>Decision record with responsible manager, comment, decision, and date.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960120" y="5532120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A"/>
                </a:solidFill>
              </a:rPr>
              <a:t>Technical account records are deliberately kept outside the business entity count.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lifecycle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Named actions move a request through a small state machine.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1234440" cy="640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Draft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331720" y="3063240"/>
            <a:ext cx="9144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1417320" cy="6400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A"/>
                </a:solidFill>
              </a:rPr>
              <a:t>Submitted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983480" y="2926080"/>
            <a:ext cx="11430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3063240"/>
            <a:ext cx="11430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83480" y="3200400"/>
            <a:ext cx="1143000" cy="91440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1783080"/>
            <a:ext cx="1417320" cy="6400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Approved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55080" y="2743200"/>
            <a:ext cx="1417320" cy="640080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Rejected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3703320"/>
            <a:ext cx="1417320" cy="640080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  <a:effectLst>
            <a:outerShdw blurRad="17780" dist="12700" dir="2700000" algn="bl" rotWithShape="0">
              <a:srgbClr val="0B1F3A">
                <a:alpha val="14000"/>
              </a:srgbClr>
            </a:outerShdw>
          </a:effectLst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Cancelled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732520" y="1600200"/>
            <a:ext cx="265176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334155"/>
                </a:solidFill>
              </a:rPr>
              <a:t>Final states
</a:t>
            </a:r>
            <a:r>
              <a:rPr lang="en-US" sz="1270" dirty="0">
                <a:solidFill>
                  <a:srgbClr val="334155"/>
                </a:solidFill>
              </a:rPr>
              <a:t>Approved, Rejected, and Cancelled are final for the MVP. There is no return-for-correction, HR review, or generic state-change action.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960120" y="5413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B1F3A"/>
                </a:solidFill>
              </a:rPr>
              <a:t>Draft and Submitted may be cancelled before a manager decision.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Mandatory rules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These rules belong in the API/application behavior, not only in the UI.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5074920" cy="960120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34155"/>
                </a:solidFill>
              </a:rPr>
              <a:t>Valid dates
</a:t>
            </a:r>
            <a:r>
              <a:rPr lang="en-US" sz="1180" dirty="0">
                <a:solidFill>
                  <a:srgbClr val="334155"/>
                </a:solidFill>
              </a:rPr>
              <a:t>End date cannot be before start date; start date cannot be in the past.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074920" cy="96012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34155"/>
                </a:solidFill>
              </a:rPr>
              <a:t>Draft-only edit
</a:t>
            </a:r>
            <a:r>
              <a:rPr lang="en-US" sz="1180" dirty="0">
                <a:solidFill>
                  <a:srgbClr val="334155"/>
                </a:solidFill>
              </a:rPr>
              <a:t>Submitted and final-state requests cannot be edited.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685800" y="2761488"/>
            <a:ext cx="5074920" cy="960120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34155"/>
                </a:solidFill>
              </a:rPr>
              <a:t>Owner actions
</a:t>
            </a:r>
            <a:r>
              <a:rPr lang="en-US" sz="1180" dirty="0">
                <a:solidFill>
                  <a:srgbClr val="334155"/>
                </a:solidFill>
              </a:rPr>
              <a:t>Only the logged-in owner can submit or cancel their request.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6263640" y="2761488"/>
            <a:ext cx="5074920" cy="96012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34155"/>
                </a:solidFill>
              </a:rPr>
              <a:t>Manager authority
</a:t>
            </a:r>
            <a:r>
              <a:rPr lang="en-US" sz="1180" dirty="0">
                <a:solidFill>
                  <a:srgbClr val="334155"/>
                </a:solidFill>
              </a:rPr>
              <a:t>Only a Manager assigned to the employee can approve or reject.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85800" y="4151376"/>
            <a:ext cx="5074920" cy="960120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34155"/>
                </a:solidFill>
              </a:rPr>
              <a:t>No self-approval
</a:t>
            </a:r>
            <a:r>
              <a:rPr lang="en-US" sz="1180" dirty="0">
                <a:solidFill>
                  <a:srgbClr val="334155"/>
                </a:solidFill>
              </a:rPr>
              <a:t>A manager cannot approve or reject their own request.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6263640" y="4151376"/>
            <a:ext cx="5074920" cy="96012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334155"/>
                </a:solidFill>
              </a:rPr>
              <a:t>Recorded decision
</a:t>
            </a:r>
            <a:r>
              <a:rPr lang="en-US" sz="1180" dirty="0">
                <a:solidFill>
                  <a:srgbClr val="334155"/>
                </a:solidFill>
              </a:rPr>
              <a:t>Approve or reject creates one Approval record with the authenticated manager.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8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Clean boundaries without unnecessary implementation patterns.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1737360" cy="457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9848" y="2606040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Next.js pages and components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935224" y="2194560"/>
            <a:ext cx="3200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4408" y="1965960"/>
            <a:ext cx="1737360" cy="4572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91256" y="2606040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Minimal API endpoints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056632" y="2194560"/>
            <a:ext cx="3200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85816" y="1965960"/>
            <a:ext cx="1737360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12664" y="2606040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EF Core, SQLite, local auth tables, seed data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178040" y="2194560"/>
            <a:ext cx="3200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07224" y="1965960"/>
            <a:ext cx="1737360" cy="4572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34072" y="2606040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Use cases and workflow rules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299448" y="2194560"/>
            <a:ext cx="320040" cy="0"/>
          </a:xfrm>
          <a:prstGeom prst="line">
            <a:avLst/>
          </a:prstGeom>
          <a:noFill/>
          <a:ln w="2286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28632" y="1965960"/>
            <a:ext cx="1737360" cy="457200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Domain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55480" y="2606040"/>
            <a:ext cx="1883664" cy="685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34155"/>
                </a:solidFill>
              </a:rPr>
              <a:t>Business entities, states, core invariants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051560" y="4069080"/>
            <a:ext cx="4663440" cy="100584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Keep
</a:t>
            </a:r>
            <a:r>
              <a:rPr lang="en-US" sz="1200" dirty="0">
                <a:solidFill>
                  <a:srgbClr val="334155"/>
                </a:solidFill>
              </a:rPr>
              <a:t>Clear responsibilities, simple service methods, explicit endpoints, and validation close to the use case.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069080"/>
            <a:ext cx="4663440" cy="1005840"/>
          </a:xfrm>
          <a:prstGeom prst="rect">
            <a:avLst/>
          </a:prstGeom>
          <a:solidFill>
            <a:srgbClr val="FFF1F2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Avoid
</a:t>
            </a:r>
            <a:r>
              <a:rPr lang="en-US" sz="1200" dirty="0">
                <a:solidFill>
                  <a:srgbClr val="334155"/>
                </a:solidFill>
              </a:rPr>
              <a:t>MediatR, CQRS, event sourcing, generic repositories, messaging, microservices, and complex deployment pipelines.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experience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 compact interface supports the full MVP workflow.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2423160" cy="1097280"/>
          </a:xfrm>
          <a:prstGeom prst="rect">
            <a:avLst/>
          </a:prstGeom>
          <a:solidFill>
            <a:srgbClr val="EAF1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Register
</a:t>
            </a:r>
            <a:r>
              <a:rPr lang="en-US" sz="1230" dirty="0">
                <a:solidFill>
                  <a:srgbClr val="334155"/>
                </a:solidFill>
              </a:rPr>
              <a:t>Name, email, password, and role for MVP account creation.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3474720" y="1417320"/>
            <a:ext cx="2423160" cy="109728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Login
</a:t>
            </a:r>
            <a:r>
              <a:rPr lang="en-US" sz="1230" dirty="0">
                <a:solidFill>
                  <a:srgbClr val="334155"/>
                </a:solidFill>
              </a:rPr>
              <a:t>Email and password. The app displays the current user after login.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6172200" y="1417320"/>
            <a:ext cx="2423160" cy="1097280"/>
          </a:xfrm>
          <a:prstGeom prst="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My Requests
</a:t>
            </a:r>
            <a:r>
              <a:rPr lang="en-US" sz="1230" dirty="0">
                <a:solidFill>
                  <a:srgbClr val="334155"/>
                </a:solidFill>
              </a:rPr>
              <a:t>Employee sees only their own requests and valid state actions.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8869680" y="1417320"/>
            <a:ext cx="2423160" cy="109728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334155"/>
                </a:solidFill>
              </a:rPr>
              <a:t>Manager Queue
</a:t>
            </a:r>
            <a:r>
              <a:rPr lang="en-US" sz="1230" dirty="0">
                <a:solidFill>
                  <a:srgbClr val="334155"/>
                </a:solidFill>
              </a:rPr>
              <a:t>Manager sees submitted requests assigned to them.</a:t>
            </a:r>
            <a:endParaRPr lang="en-US" sz="1230" dirty="0"/>
          </a:p>
        </p:txBody>
      </p:sp>
      <p:sp>
        <p:nvSpPr>
          <p:cNvPr id="11" name="Shape 9"/>
          <p:cNvSpPr/>
          <p:nvPr/>
        </p:nvSpPr>
        <p:spPr>
          <a:xfrm>
            <a:off x="1051560" y="3154680"/>
            <a:ext cx="10058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" dist="12700" dir="27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Request list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From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8348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To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1228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State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41080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</a:rPr>
              <a:t>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25880" y="4114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Vacation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4114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08/10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4114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08/14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4114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Draft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641080" y="41148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Submit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25880" y="4425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Personal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54680" y="4425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08/20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83480" y="4425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08/20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4425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Submitted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41080" y="44256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Cancel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325880" y="4736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Sick Leave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54680" y="4736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08/25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4736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08/26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12280" y="4736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Approved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41080" y="4736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View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325880" y="54132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</a:rPr>
              <a:t>Buttons change by role and state; after each action, the list reloads from the API.</a:t>
            </a:r>
            <a:endParaRPr lang="en-US" sz="12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surface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Authentication endpoints plus a small set of workflow endpoints.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291840" cy="320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Authentication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0" y="1325880"/>
            <a:ext cx="3291840" cy="32004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Workflow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83880" y="1325880"/>
            <a:ext cx="3291840" cy="32004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29260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POST /auth/register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POST /auth/login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POST /auth/logout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GET /auth/me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301752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GET /absence-types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GET /requests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POST /requests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PUT /requests/{id}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POST /requests/{id}/submit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334155"/>
                </a:solidFill>
              </a:rPr>
              <a:t>• POST /requests/{id}/cancel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8366760" y="1965960"/>
            <a:ext cx="29260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POST /requests/{id}/approve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POST /requests/{id}/reject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API records responsible manager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• API blocks invalid decisions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5166360"/>
            <a:ext cx="8412480" cy="685800"/>
          </a:xfrm>
          <a:prstGeom prst="rect">
            <a:avLst/>
          </a:prstGeom>
          <a:solidFill>
            <a:srgbClr val="FFF7ED"/>
          </a:solidFill>
          <a:ln w="10160">
            <a:solidFill>
              <a:srgbClr val="E2E8F0"/>
            </a:solidFill>
          </a:ln>
          <a:effectLst>
            <a:outerShdw blurRad="17780" dist="12700" dir="2700000" algn="bl" rotWithShape="0">
              <a:srgbClr val="0B1F3A">
                <a:alpha val="10000"/>
              </a:srgbClr>
            </a:outerShdw>
          </a:effectLst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334155"/>
                </a:solidFill>
              </a:rPr>
              <a:t>Identity rule
</a:t>
            </a:r>
            <a:r>
              <a:rPr lang="en-US" sz="1280" dirty="0">
                <a:solidFill>
                  <a:srgbClr val="334155"/>
                </a:solidFill>
              </a:rPr>
              <a:t>The API derives employee ownership and approval responsibility from the authenticated user, not from trusted IDs sent by the frontend.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Acceptance demo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4748B"/>
                </a:solidFill>
              </a:rPr>
              <a:t>The MVP is complete when this end-to-end path works with real local accounts.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4712" y="145389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Register employee account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19472" y="145389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Log in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8366760" y="1417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714232" y="145389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Create Draft request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77240" y="24048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24712" y="24414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Reject invalid dates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4572000" y="24048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19472" y="24414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Edit Draft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366760" y="240487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14232" y="24414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Submit request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77240" y="33924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124712" y="34290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Prevent edit after submission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572000" y="33924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919472" y="34290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Log in as manager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8366760" y="33924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714232" y="342900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See submitted request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777240" y="437997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24712" y="44165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Approve or reject with comment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572000" y="437997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919472" y="44165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Record manager as responsible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366760" y="437997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714232" y="441655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</a:rPr>
              <a:t>Employee sees final result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1325880" y="5532120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A"/>
                </a:solidFill>
              </a:rPr>
              <a:t>Final message: small scope, real login, complete workflow, clear ownership.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6D42-CBF8-E2DD-8879-7751F17F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63663C-58D8-E5DC-3D74-FC893D2A015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4DB0F1-7F63-F856-96C1-2AC88966A542}"/>
              </a:ext>
            </a:extLst>
          </p:cNvPr>
          <p:cNvSpPr/>
          <p:nvPr/>
        </p:nvSpPr>
        <p:spPr>
          <a:xfrm>
            <a:off x="50292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VacaFlow MVP · IGS Solutions</a:t>
            </a:r>
            <a:endParaRPr lang="en-US" sz="8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2CB0CF-8F0B-9F9A-8D22-28F081A507EC}"/>
              </a:ext>
            </a:extLst>
          </p:cNvPr>
          <p:cNvSpPr/>
          <p:nvPr/>
        </p:nvSpPr>
        <p:spPr>
          <a:xfrm>
            <a:off x="11475720" y="65105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5F9C57-66FD-084E-965C-9CB592D3D965}"/>
              </a:ext>
            </a:extLst>
          </p:cNvPr>
          <p:cNvSpPr/>
          <p:nvPr/>
        </p:nvSpPr>
        <p:spPr>
          <a:xfrm>
            <a:off x="548640" y="42062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Deliverables</a:t>
            </a:r>
            <a:endParaRPr lang="en-US" sz="2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2CED3C4-4BD3-C9E1-865B-E4A03D9BA176}"/>
              </a:ext>
            </a:extLst>
          </p:cNvPr>
          <p:cNvSpPr/>
          <p:nvPr/>
        </p:nvSpPr>
        <p:spPr>
          <a:xfrm>
            <a:off x="566928" y="8961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0" dirty="0">
                <a:solidFill>
                  <a:srgbClr val="64748B"/>
                </a:solidFill>
              </a:rPr>
              <a:t>The artifacts that must be handed in at the end of the MVP are as follows:</a:t>
            </a:r>
            <a:endParaRPr lang="en-US" sz="12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BCE46B-7C15-595D-0135-A93EF57B3644}"/>
              </a:ext>
            </a:extLst>
          </p:cNvPr>
          <p:cNvSpPr/>
          <p:nvPr/>
        </p:nvSpPr>
        <p:spPr>
          <a:xfrm>
            <a:off x="763524" y="14173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3C1A382-7FFB-DF1C-4245-AB3BF589578C}"/>
              </a:ext>
            </a:extLst>
          </p:cNvPr>
          <p:cNvSpPr/>
          <p:nvPr/>
        </p:nvSpPr>
        <p:spPr>
          <a:xfrm>
            <a:off x="1083564" y="146304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80" dirty="0">
                <a:solidFill>
                  <a:srgbClr val="334155"/>
                </a:solidFill>
              </a:rPr>
              <a:t>Velocity Project completed (Green)</a:t>
            </a:r>
            <a:endParaRPr lang="en-US" sz="118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508F0AF-BEC4-339B-9AB6-E8543A42407A}"/>
              </a:ext>
            </a:extLst>
          </p:cNvPr>
          <p:cNvSpPr/>
          <p:nvPr/>
        </p:nvSpPr>
        <p:spPr>
          <a:xfrm>
            <a:off x="763524" y="192871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6C773F0-5498-BF17-1B45-987BF6309018}"/>
              </a:ext>
            </a:extLst>
          </p:cNvPr>
          <p:cNvSpPr/>
          <p:nvPr/>
        </p:nvSpPr>
        <p:spPr>
          <a:xfrm>
            <a:off x="1083564" y="196696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80" dirty="0">
                <a:solidFill>
                  <a:srgbClr val="334155"/>
                </a:solidFill>
              </a:rPr>
              <a:t>Functional Prototype (HTML in Zip)</a:t>
            </a:r>
            <a:endParaRPr lang="en-US" sz="118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A294F65-58DD-F1F9-8405-2416341497B1}"/>
              </a:ext>
            </a:extLst>
          </p:cNvPr>
          <p:cNvSpPr/>
          <p:nvPr/>
        </p:nvSpPr>
        <p:spPr>
          <a:xfrm>
            <a:off x="763524" y="24401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EBB9AE5-1E24-9C49-F338-5D64CD16F13B}"/>
              </a:ext>
            </a:extLst>
          </p:cNvPr>
          <p:cNvSpPr/>
          <p:nvPr/>
        </p:nvSpPr>
        <p:spPr>
          <a:xfrm>
            <a:off x="1083564" y="2477519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80" dirty="0">
                <a:solidFill>
                  <a:srgbClr val="334155"/>
                </a:solidFill>
              </a:rPr>
              <a:t>Source Code (Zip With the Source) </a:t>
            </a:r>
            <a:r>
              <a:rPr lang="en-US" sz="1180" b="1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1547402-802F-959E-3E42-3B0FC21BC56E}"/>
              </a:ext>
            </a:extLst>
          </p:cNvPr>
          <p:cNvSpPr/>
          <p:nvPr/>
        </p:nvSpPr>
        <p:spPr>
          <a:xfrm>
            <a:off x="763524" y="2951495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</a:rPr>
              <a:t>✓</a:t>
            </a:r>
            <a:endParaRPr lang="en-US" sz="17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81C91CD-C9AB-C540-A3FC-354797176219}"/>
              </a:ext>
            </a:extLst>
          </p:cNvPr>
          <p:cNvSpPr/>
          <p:nvPr/>
        </p:nvSpPr>
        <p:spPr>
          <a:xfrm>
            <a:off x="1083564" y="298032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80" dirty="0">
                <a:solidFill>
                  <a:srgbClr val="334155"/>
                </a:solidFill>
              </a:rPr>
              <a:t>Demo  (Video with the whole Acceptance Demo)</a:t>
            </a:r>
            <a:endParaRPr lang="en-US" sz="118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DA96D9D-4003-DF45-A4AC-8A165BDB9CEA}"/>
              </a:ext>
            </a:extLst>
          </p:cNvPr>
          <p:cNvSpPr/>
          <p:nvPr/>
        </p:nvSpPr>
        <p:spPr>
          <a:xfrm>
            <a:off x="763524" y="5532120"/>
            <a:ext cx="10469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FF0000"/>
                </a:solidFill>
              </a:rPr>
              <a:t>Important: Do not include </a:t>
            </a:r>
            <a:r>
              <a:rPr lang="en-US" sz="1900" b="1" dirty="0" err="1">
                <a:solidFill>
                  <a:srgbClr val="FF0000"/>
                </a:solidFill>
              </a:rPr>
              <a:t>node_modules</a:t>
            </a:r>
            <a:r>
              <a:rPr lang="en-US" sz="1900" b="1" dirty="0">
                <a:solidFill>
                  <a:srgbClr val="FF0000"/>
                </a:solidFill>
              </a:rPr>
              <a:t> and the bin and obj directories; only the source code.</a:t>
            </a:r>
            <a:endParaRPr lang="en-US" sz="19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675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1115</Words>
  <Application>Microsoft Office PowerPoint</Application>
  <PresentationFormat>Widescreen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IGS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VacaFlow MVP</dc:title>
  <dc:subject>VacaFlow MVP Scope</dc:subject>
  <dc:creator>OpenAI</dc:creator>
  <cp:lastModifiedBy>Julio Cesar Robles Uribe</cp:lastModifiedBy>
  <cp:revision>4</cp:revision>
  <dcterms:created xsi:type="dcterms:W3CDTF">2026-07-16T23:30:32Z</dcterms:created>
  <dcterms:modified xsi:type="dcterms:W3CDTF">2026-07-17T18:51:53Z</dcterms:modified>
</cp:coreProperties>
</file>